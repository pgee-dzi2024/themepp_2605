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7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bg-BG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654" y="108"/>
      </p:cViewPr>
      <p:guideLst/>
    </p:cSldViewPr>
  </p:slideViewPr>
  <p:notesTextViewPr>
    <p:cViewPr>
      <p:scale>
        <a:sx n="1" d="1"/>
        <a:sy n="1" d="1"/>
      </p:scale>
      <p:origin x="0" y="-66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954605-55D4-4E23-90C8-AD482CC8543E}" type="datetimeFigureOut">
              <a:rPr lang="bg-BG" smtClean="0"/>
              <a:t>29.4.2026 г.</a:t>
            </a:fld>
            <a:endParaRPr lang="bg-B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bg-B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187EAD-EC98-4B70-B0B6-C5CFC1425A7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6554472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Уважаема г-жо Директор,</a:t>
            </a:r>
          </a:p>
          <a:p>
            <a:r>
              <a:rPr lang="ru-RU" dirty="0" smtClean="0"/>
              <a:t>Уважаема комисия,</a:t>
            </a:r>
          </a:p>
          <a:p>
            <a:r>
              <a:rPr lang="ru-RU" dirty="0" smtClean="0"/>
              <a:t>Уважаеми гости,</a:t>
            </a:r>
          </a:p>
          <a:p>
            <a:r>
              <a:rPr lang="ru-RU" dirty="0" smtClean="0"/>
              <a:t>Казвам се Александър Кулин и ще ви представя моя дипломен проект на тема:</a:t>
            </a:r>
          </a:p>
          <a:p>
            <a:r>
              <a:rPr lang="ru-RU" dirty="0" smtClean="0"/>
              <a:t>„Анализ на емоции в текст чрез обработка на естествен език“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187EAD-EC98-4B70-B0B6-C5CFC1425A7F}" type="slidenum">
              <a:rPr lang="bg-BG" smtClean="0"/>
              <a:t>1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72446401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съвременния дигитален свят хората постоянно създават текст – коментари, мнения, ревюта и съобщения. Тази информация е изключително ценна, защото показва какво мислят и чувстват потребителите.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187EAD-EC98-4B70-B0B6-C5CFC1425A7F}" type="slidenum">
              <a:rPr lang="bg-BG" smtClean="0"/>
              <a:t>2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33469332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Ръчното анализиране на толкова голям обем текст е трудно, затова се използват технологии от изкуствения интелект. Една от тях е обработката на естествен език, която позволява на компютрите да разбират човешкия език.</a:t>
            </a:r>
            <a:endParaRPr lang="bg-BG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187EAD-EC98-4B70-B0B6-C5CFC1425A7F}" type="slidenum">
              <a:rPr lang="bg-BG" smtClean="0"/>
              <a:t>3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1475230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Моят проект представлява уеб приложение, което анализира въведен текст и автоматично определя неговата емоционална насоченост.</a:t>
            </a:r>
          </a:p>
          <a:p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Системата може да разпознае дали даден текст е позитивен, негативен или неутрален, което я прави полезна при анализ на мнения и отзиви.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187EAD-EC98-4B70-B0B6-C5CFC1425A7F}" type="slidenum">
              <a:rPr lang="bg-BG" smtClean="0"/>
              <a:t>4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56275526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Работата на приложението започва от потребителя, който въвежда текст. Този текст се изпраща към сървъра, където преминава през няколко етапа</a:t>
            </a: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bg-BG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Първо се извършва предварителна обработка – текстът се почиства и подготвя. След това </a:t>
            </a: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преминава през токенизация,</a:t>
            </a:r>
            <a:r>
              <a:rPr lang="bg-BG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която представлява</a:t>
            </a: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разделяне на текста </a:t>
            </a: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отделни </a:t>
            </a: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елементи.</a:t>
            </a:r>
          </a:p>
          <a:p>
            <a:endParaRPr lang="bg-BG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Накрая се прилага класификация, при която системата определя към коя категория принадлежи текстът.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187EAD-EC98-4B70-B0B6-C5CFC1425A7F}" type="slidenum">
              <a:rPr lang="bg-BG" smtClean="0"/>
              <a:t>5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55231926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Анализът на емоции е процес, при който се определя дали даден текст изразява положително, отрицателно или неутрално мнение.</a:t>
            </a:r>
          </a:p>
          <a:p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Например, ако текстът е „Този продукт е много добър“, системата го разпознава като позитивен.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187EAD-EC98-4B70-B0B6-C5CFC1425A7F}" type="slidenum">
              <a:rPr lang="bg-BG" smtClean="0"/>
              <a:t>6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57489808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За реализиране на проекта използвах Python и Django за сървърната част на приложението.</a:t>
            </a:r>
          </a:p>
          <a:p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За клиентската част използвах HTML, CSS и JavaScript, а комуникацията между тях се осъществява чрез REST API.</a:t>
            </a:r>
          </a:p>
          <a:p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Тези технологии позволяват създаването на модерно и функционално уеб приложение.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187EAD-EC98-4B70-B0B6-C5CFC1425A7F}" type="slidenum">
              <a:rPr lang="bg-BG" smtClean="0"/>
              <a:t>7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15101134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Приложението беше тествано с различни текстове с цел да се провери неговата точност.</a:t>
            </a:r>
          </a:p>
          <a:p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повечето случаи системата успява правилно да разпознае емоционалната насоченост на текста, което показва, че избраният подход е ефективен.</a:t>
            </a:r>
          </a:p>
          <a:p>
            <a:endParaRPr lang="bg-BG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Въпреки това, системата има някои ограничения. Тя трудно разпознава ирония и сарказъм и понякога се затруднява при по-сложни изречения.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187EAD-EC98-4B70-B0B6-C5CFC1425A7F}" type="slidenum">
              <a:rPr lang="bg-BG" smtClean="0"/>
              <a:t>8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48438819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 smtClean="0"/>
              <a:t>Анализът на емоции се използва в онлайн магазини и социални мрежи, за да се разбере какво мислят хората за даден продукт или услуга. Това помага на компаниите да подобряват качеството си и да вземат по-добри решения на база реална обратна връзка.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187EAD-EC98-4B70-B0B6-C5CFC1425A7F}" type="slidenum">
              <a:rPr lang="bg-BG" smtClean="0"/>
              <a:t>9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15942396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dirty="0" smtClean="0"/>
              <a:t>Благодаря</a:t>
            </a:r>
            <a:r>
              <a:rPr lang="bg-BG" baseline="0" dirty="0" smtClean="0"/>
              <a:t> Ви за отделеното внимание</a:t>
            </a:r>
          </a:p>
          <a:p>
            <a:r>
              <a:rPr lang="bg-BG" baseline="0" dirty="0" smtClean="0"/>
              <a:t>Готов съм за вашите въпроси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187EAD-EC98-4B70-B0B6-C5CFC1425A7F}" type="slidenum">
              <a:rPr lang="bg-BG" smtClean="0"/>
              <a:t>10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0581539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7101-39F5-43AF-A214-156FBC31505C}" type="datetimeFigureOut">
              <a:rPr lang="bg-BG" smtClean="0"/>
              <a:t>29.4.2026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C7B1F-86D8-411D-B452-B59FDE0172C0}" type="slidenum">
              <a:rPr lang="bg-BG" smtClean="0"/>
              <a:t>‹#›</a:t>
            </a:fld>
            <a:endParaRPr lang="bg-BG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478348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7101-39F5-43AF-A214-156FBC31505C}" type="datetimeFigureOut">
              <a:rPr lang="bg-BG" smtClean="0"/>
              <a:t>29.4.2026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C7B1F-86D8-411D-B452-B59FDE0172C0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9694927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7101-39F5-43AF-A214-156FBC31505C}" type="datetimeFigureOut">
              <a:rPr lang="bg-BG" smtClean="0"/>
              <a:t>29.4.2026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C7B1F-86D8-411D-B452-B59FDE0172C0}" type="slidenum">
              <a:rPr lang="bg-BG" smtClean="0"/>
              <a:t>‹#›</a:t>
            </a:fld>
            <a:endParaRPr lang="bg-BG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75514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7101-39F5-43AF-A214-156FBC31505C}" type="datetimeFigureOut">
              <a:rPr lang="bg-BG" smtClean="0"/>
              <a:t>29.4.2026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C7B1F-86D8-411D-B452-B59FDE0172C0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5051393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7101-39F5-43AF-A214-156FBC31505C}" type="datetimeFigureOut">
              <a:rPr lang="bg-BG" smtClean="0"/>
              <a:t>29.4.2026 г.</a:t>
            </a:fld>
            <a:endParaRPr lang="bg-BG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C7B1F-86D8-411D-B452-B59FDE0172C0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4110091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7101-39F5-43AF-A214-156FBC31505C}" type="datetimeFigureOut">
              <a:rPr lang="bg-BG" smtClean="0"/>
              <a:t>29.4.2026 г.</a:t>
            </a:fld>
            <a:endParaRPr lang="bg-BG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C7B1F-86D8-411D-B452-B59FDE0172C0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4345826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7101-39F5-43AF-A214-156FBC31505C}" type="datetimeFigureOut">
              <a:rPr lang="bg-BG" smtClean="0"/>
              <a:t>29.4.2026 г.</a:t>
            </a:fld>
            <a:endParaRPr lang="bg-BG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bg-BG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C7B1F-86D8-411D-B452-B59FDE0172C0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586238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6D2D7101-39F5-43AF-A214-156FBC31505C}" type="datetimeFigureOut">
              <a:rPr lang="bg-BG" smtClean="0"/>
              <a:t>29.4.2026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F9C7B1F-86D8-411D-B452-B59FDE0172C0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7859034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7101-39F5-43AF-A214-156FBC31505C}" type="datetimeFigureOut">
              <a:rPr lang="bg-BG" smtClean="0"/>
              <a:t>29.4.2026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C7B1F-86D8-411D-B452-B59FDE0172C0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9443092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7101-39F5-43AF-A214-156FBC31505C}" type="datetimeFigureOut">
              <a:rPr lang="bg-BG" smtClean="0"/>
              <a:t>29.4.2026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C7B1F-86D8-411D-B452-B59FDE0172C0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1506940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7101-39F5-43AF-A214-156FBC31505C}" type="datetimeFigureOut">
              <a:rPr lang="bg-BG" smtClean="0"/>
              <a:t>29.4.2026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C7B1F-86D8-411D-B452-B59FDE0172C0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1947938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6D2D7101-39F5-43AF-A214-156FBC31505C}" type="datetimeFigureOut">
              <a:rPr lang="bg-BG" smtClean="0"/>
              <a:t>29.4.2026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3F9C7B1F-86D8-411D-B452-B59FDE0172C0}" type="slidenum">
              <a:rPr lang="bg-BG" smtClean="0"/>
              <a:t>‹#›</a:t>
            </a:fld>
            <a:endParaRPr lang="bg-BG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81897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78418" y="-817661"/>
            <a:ext cx="10058400" cy="3566160"/>
          </a:xfrm>
        </p:spPr>
        <p:txBody>
          <a:bodyPr>
            <a:noAutofit/>
          </a:bodyPr>
          <a:lstStyle/>
          <a:p>
            <a:pPr algn="ctr"/>
            <a:r>
              <a:rPr lang="ru-RU" sz="3600" dirty="0"/>
              <a:t>Държавен изпит за придобиване на трета степен на професионална квалификация – част по теория на професиятапо професия код 481030 „Приложен програмист”специалност код 4810301 „Приложно програмиране"</a:t>
            </a:r>
            <a:endParaRPr lang="bg-BG" sz="360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58106" y="4447231"/>
            <a:ext cx="10058400" cy="1143000"/>
          </a:xfrm>
        </p:spPr>
        <p:txBody>
          <a:bodyPr>
            <a:normAutofit fontScale="77500" lnSpcReduction="20000"/>
          </a:bodyPr>
          <a:lstStyle/>
          <a:p>
            <a:r>
              <a:rPr lang="en-US" dirty="0" smtClean="0"/>
              <a:t>T</a:t>
            </a:r>
            <a:r>
              <a:rPr lang="ru-RU" dirty="0" smtClean="0"/>
              <a:t>ема </a:t>
            </a:r>
            <a:r>
              <a:rPr lang="ru-RU" dirty="0"/>
              <a:t>: „Анализ на емоции в текст чрез обработка на естествен език</a:t>
            </a:r>
            <a:r>
              <a:rPr lang="ru-RU" dirty="0" smtClean="0"/>
              <a:t>“</a:t>
            </a:r>
            <a:endParaRPr lang="en-US" dirty="0" smtClean="0"/>
          </a:p>
          <a:p>
            <a:endParaRPr lang="ru-RU" dirty="0"/>
          </a:p>
          <a:p>
            <a:r>
              <a:rPr lang="ru-RU" dirty="0"/>
              <a:t>Дипломант: Александър Кулин</a:t>
            </a:r>
          </a:p>
          <a:p>
            <a:endParaRPr lang="bg-BG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151" y="446437"/>
            <a:ext cx="1203910" cy="15528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70362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Проблемът</a:t>
            </a:r>
            <a:endParaRPr lang="bg-BG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Всеки ден хората създават огромни количества </a:t>
            </a:r>
            <a:r>
              <a:rPr lang="ru-RU" dirty="0" smtClean="0"/>
              <a:t>текст</a:t>
            </a:r>
            <a:r>
              <a:rPr lang="en-US" dirty="0" smtClean="0"/>
              <a:t>:</a:t>
            </a:r>
          </a:p>
          <a:p>
            <a:endParaRPr lang="ru-RU" dirty="0"/>
          </a:p>
          <a:p>
            <a:pPr>
              <a:buFont typeface="Wingdings" panose="05000000000000000000" pitchFamily="2" charset="2"/>
              <a:buChar char="q"/>
            </a:pPr>
            <a:r>
              <a:rPr lang="ru-RU" dirty="0"/>
              <a:t>Коментари в социални мрежи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ru-RU" dirty="0"/>
              <a:t>Продуктови ревюта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ru-RU" dirty="0"/>
              <a:t>Онлайн мнения и </a:t>
            </a:r>
            <a:r>
              <a:rPr lang="ru-RU" dirty="0" smtClean="0"/>
              <a:t>отзиви</a:t>
            </a:r>
            <a:endParaRPr lang="en-US" dirty="0" smtClean="0"/>
          </a:p>
          <a:p>
            <a:pPr marL="0" indent="0">
              <a:buNone/>
            </a:pPr>
            <a:endParaRPr lang="ru-RU" dirty="0"/>
          </a:p>
          <a:p>
            <a:r>
              <a:rPr lang="ru-RU" b="1" dirty="0"/>
              <a:t>Ръчният анализ е </a:t>
            </a:r>
            <a:r>
              <a:rPr lang="ru-RU" b="1" dirty="0" smtClean="0"/>
              <a:t>невъзможен</a:t>
            </a:r>
            <a:r>
              <a:rPr lang="en-US" b="1" dirty="0" smtClean="0"/>
              <a:t>.</a:t>
            </a:r>
            <a:endParaRPr lang="ru-RU" dirty="0"/>
          </a:p>
          <a:p>
            <a:endParaRPr lang="bg-BG" dirty="0"/>
          </a:p>
        </p:txBody>
      </p:sp>
      <p:pic>
        <p:nvPicPr>
          <p:cNvPr id="1025" name="Picture 1" descr="https://cdn.gamma.app/mdafqexn76joahg/generated-images/D7GH914NOKxBzlU9KoFwB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18451" y="2582370"/>
            <a:ext cx="4268456" cy="29879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403935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Обработка на естествен език</a:t>
            </a:r>
            <a:endParaRPr lang="bg-BG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985767" y="2086252"/>
            <a:ext cx="8281426" cy="37280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98065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Моят проект</a:t>
            </a:r>
            <a:endParaRPr lang="bg-BG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8813" y="1972449"/>
            <a:ext cx="7906404" cy="390552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248575" y="2217050"/>
            <a:ext cx="6096000" cy="341632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b="1" dirty="0" smtClean="0"/>
              <a:t>Уеб приложение за анализ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 smtClean="0"/>
              <a:t>Приема произволен текст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 smtClean="0"/>
              <a:t>Анализира съдържанието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 smtClean="0"/>
              <a:t>Определя емоционална тоналност</a:t>
            </a:r>
          </a:p>
          <a:p>
            <a:pPr>
              <a:buFont typeface="Arial" panose="020B0604020202020204" pitchFamily="34" charset="0"/>
              <a:buChar char="•"/>
            </a:pPr>
            <a:endParaRPr lang="ru-RU" dirty="0"/>
          </a:p>
          <a:p>
            <a:pPr>
              <a:buFont typeface="Arial" panose="020B0604020202020204" pitchFamily="34" charset="0"/>
              <a:buChar char="•"/>
            </a:pPr>
            <a:endParaRPr lang="ru-RU" dirty="0" smtClean="0"/>
          </a:p>
          <a:p>
            <a:pPr>
              <a:buFont typeface="Arial" panose="020B0604020202020204" pitchFamily="34" charset="0"/>
              <a:buChar char="•"/>
            </a:pPr>
            <a:endParaRPr lang="ru-RU" dirty="0"/>
          </a:p>
          <a:p>
            <a:pPr>
              <a:buFont typeface="Arial" panose="020B0604020202020204" pitchFamily="34" charset="0"/>
              <a:buChar char="•"/>
            </a:pPr>
            <a:endParaRPr lang="ru-RU" dirty="0" smtClean="0"/>
          </a:p>
          <a:p>
            <a:r>
              <a:rPr lang="ru-RU" b="1" dirty="0" smtClean="0"/>
              <a:t>Три категории:</a:t>
            </a:r>
            <a:endParaRPr lang="ru-RU" dirty="0" smtClean="0"/>
          </a:p>
          <a:p>
            <a:r>
              <a:rPr lang="ru-RU" dirty="0" smtClean="0"/>
              <a:t>😊 Позитивна</a:t>
            </a:r>
            <a:br>
              <a:rPr lang="ru-RU" dirty="0" smtClean="0"/>
            </a:br>
            <a:r>
              <a:rPr lang="ru-RU" dirty="0" smtClean="0"/>
              <a:t>😐 Неутрална</a:t>
            </a:r>
            <a:br>
              <a:rPr lang="ru-RU" dirty="0" smtClean="0"/>
            </a:br>
            <a:r>
              <a:rPr lang="ru-RU" dirty="0" smtClean="0"/>
              <a:t>😡 Негативна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5323398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Как работи системата</a:t>
            </a:r>
            <a:endParaRPr lang="bg-BG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315631" y="2195281"/>
            <a:ext cx="7621064" cy="3324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24613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Анализ на емоции</a:t>
            </a:r>
            <a:endParaRPr lang="bg-BG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1863050"/>
            <a:ext cx="4353533" cy="414395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794084" y="2207411"/>
            <a:ext cx="45829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b="1" dirty="0" smtClean="0"/>
              <a:t>Пример:</a:t>
            </a:r>
            <a:r>
              <a:rPr lang="ru-RU" dirty="0" smtClean="0"/>
              <a:t> „Много добър продукт" → </a:t>
            </a:r>
            <a:r>
              <a:rPr lang="ru-RU" b="1" dirty="0" smtClean="0"/>
              <a:t>Позитив</a:t>
            </a:r>
            <a:endParaRPr lang="ru-RU" dirty="0"/>
          </a:p>
        </p:txBody>
      </p:sp>
      <p:sp>
        <p:nvSpPr>
          <p:cNvPr id="6" name="Rectangle 5"/>
          <p:cNvSpPr/>
          <p:nvPr/>
        </p:nvSpPr>
        <p:spPr>
          <a:xfrm>
            <a:off x="5794084" y="3565694"/>
            <a:ext cx="536159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b="1" dirty="0" smtClean="0"/>
              <a:t>Пример:</a:t>
            </a:r>
            <a:r>
              <a:rPr lang="ru-RU" dirty="0" smtClean="0"/>
              <a:t> „Нямам мнение за продукта" → </a:t>
            </a:r>
            <a:r>
              <a:rPr lang="ru-RU" b="1" dirty="0" smtClean="0"/>
              <a:t>Неутрален</a:t>
            </a:r>
            <a:endParaRPr lang="ru-RU" dirty="0"/>
          </a:p>
        </p:txBody>
      </p:sp>
      <p:sp>
        <p:nvSpPr>
          <p:cNvPr id="7" name="Rectangle 6"/>
          <p:cNvSpPr/>
          <p:nvPr/>
        </p:nvSpPr>
        <p:spPr>
          <a:xfrm>
            <a:off x="5794084" y="4923977"/>
            <a:ext cx="418370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b="1" dirty="0" smtClean="0"/>
              <a:t>Пример:</a:t>
            </a:r>
            <a:r>
              <a:rPr lang="ru-RU" dirty="0" smtClean="0"/>
              <a:t> „Ужасен продкут" → </a:t>
            </a:r>
            <a:r>
              <a:rPr lang="ru-RU" b="1" dirty="0" smtClean="0"/>
              <a:t>Негативен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7951494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0" name="Picture 6" descr="Python logo - free Icon PNG, SV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8216" y="4438177"/>
            <a:ext cx="1698127" cy="16981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Технологии</a:t>
            </a:r>
            <a:endParaRPr lang="bg-BG" dirty="0"/>
          </a:p>
        </p:txBody>
      </p:sp>
      <p:sp>
        <p:nvSpPr>
          <p:cNvPr id="4" name="Rectangle 3"/>
          <p:cNvSpPr/>
          <p:nvPr/>
        </p:nvSpPr>
        <p:spPr>
          <a:xfrm>
            <a:off x="1097280" y="2181004"/>
            <a:ext cx="6096000" cy="2062103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3200" b="1" dirty="0"/>
              <a:t>Backend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3200" dirty="0"/>
              <a:t>Python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3200" dirty="0"/>
              <a:t>Django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bg-BG" sz="3200" dirty="0"/>
              <a:t>Машинно обучение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1136" y="2181004"/>
            <a:ext cx="6096000" cy="2062103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3200" b="1" dirty="0"/>
              <a:t>Frontend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3200" dirty="0"/>
              <a:t>HTML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3200" dirty="0"/>
              <a:t>CSS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3200" dirty="0"/>
              <a:t>JavaScript</a:t>
            </a:r>
          </a:p>
        </p:txBody>
      </p:sp>
      <p:pic>
        <p:nvPicPr>
          <p:cNvPr id="1032" name="Picture 8" descr="File:JavaScript-logo.png - Wikimedia Commons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50157" y="4486295"/>
            <a:ext cx="1601892" cy="16018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15855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Резултати</a:t>
            </a:r>
            <a:endParaRPr lang="bg-BG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172471" y="2166702"/>
            <a:ext cx="9907383" cy="3381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04665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Приложение в реалния свят</a:t>
            </a:r>
            <a:endParaRPr lang="bg-BG" dirty="0"/>
          </a:p>
        </p:txBody>
      </p:sp>
      <p:sp>
        <p:nvSpPr>
          <p:cNvPr id="4" name="Rectangle 3"/>
          <p:cNvSpPr/>
          <p:nvPr/>
        </p:nvSpPr>
        <p:spPr>
          <a:xfrm>
            <a:off x="5509482" y="2344105"/>
            <a:ext cx="6031489" cy="25545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000" dirty="0"/>
              <a:t>Анализът на емоции е инструмент с широко приложение в различни сфери</a:t>
            </a:r>
            <a:r>
              <a:rPr lang="ru-RU" sz="2000" dirty="0" smtClean="0"/>
              <a:t>:</a:t>
            </a:r>
          </a:p>
          <a:p>
            <a:endParaRPr lang="ru-RU" sz="2000" dirty="0"/>
          </a:p>
          <a:p>
            <a:endParaRPr lang="ru-RU" sz="2000" dirty="0"/>
          </a:p>
          <a:p>
            <a:pPr>
              <a:buFont typeface="Arial" panose="020B0604020202020204" pitchFamily="34" charset="0"/>
              <a:buChar char="•"/>
            </a:pPr>
            <a:r>
              <a:rPr lang="ru-RU" sz="2000" dirty="0"/>
              <a:t>Онлайн магазини и платформи за електронна </a:t>
            </a:r>
            <a:r>
              <a:rPr lang="ru-RU" sz="2000" dirty="0" smtClean="0"/>
              <a:t>търговия</a:t>
            </a:r>
            <a:endParaRPr lang="ru-RU" sz="2000" dirty="0"/>
          </a:p>
          <a:p>
            <a:pPr>
              <a:buFont typeface="Arial" panose="020B0604020202020204" pitchFamily="34" charset="0"/>
              <a:buChar char="•"/>
            </a:pPr>
            <a:r>
              <a:rPr lang="ru-RU" sz="2000" dirty="0"/>
              <a:t>Социални мрежи и медиен мониторинг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2000" dirty="0"/>
              <a:t>Обратна връзка от клиенти и проучвания на пазара</a:t>
            </a:r>
          </a:p>
        </p:txBody>
      </p:sp>
      <p:pic>
        <p:nvPicPr>
          <p:cNvPr id="2050" name="Picture 2" descr="How to Start an Online Store — Simple, Step-by-Step Guide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7280" y="2499106"/>
            <a:ext cx="3990297" cy="22445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224818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04139" y="2175028"/>
            <a:ext cx="6892623" cy="1450757"/>
          </a:xfrm>
        </p:spPr>
        <p:txBody>
          <a:bodyPr/>
          <a:lstStyle/>
          <a:p>
            <a:r>
              <a:rPr lang="bg-BG" dirty="0" smtClean="0"/>
              <a:t>Благодаря за вниманието!</a:t>
            </a:r>
            <a:endParaRPr lang="bg-BG" dirty="0"/>
          </a:p>
        </p:txBody>
      </p:sp>
      <p:sp>
        <p:nvSpPr>
          <p:cNvPr id="4" name="Rectangle 3"/>
          <p:cNvSpPr/>
          <p:nvPr/>
        </p:nvSpPr>
        <p:spPr>
          <a:xfrm>
            <a:off x="1180730" y="1562470"/>
            <a:ext cx="10227076" cy="36398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4328605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Retrospect">
  <a:themeElements>
    <a:clrScheme name="Retrospect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TM02900769[[fn=Retrospect]]</Template>
  <TotalTime>145</TotalTime>
  <Words>595</Words>
  <Application>Microsoft Office PowerPoint</Application>
  <PresentationFormat>Widescreen</PresentationFormat>
  <Paragraphs>83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Calibri Light</vt:lpstr>
      <vt:lpstr>Wingdings</vt:lpstr>
      <vt:lpstr>Retrospect</vt:lpstr>
      <vt:lpstr>Държавен изпит за придобиване на трета степен на професионална квалификация – част по теория на професиятапо професия код 481030 „Приложен програмист”специалност код 4810301 „Приложно програмиране"</vt:lpstr>
      <vt:lpstr>Проблемът</vt:lpstr>
      <vt:lpstr>Обработка на естествен език</vt:lpstr>
      <vt:lpstr>Моят проект</vt:lpstr>
      <vt:lpstr>Как работи системата</vt:lpstr>
      <vt:lpstr>Анализ на емоции</vt:lpstr>
      <vt:lpstr>Технологии</vt:lpstr>
      <vt:lpstr>Резултати</vt:lpstr>
      <vt:lpstr>Приложение в реалния свят</vt:lpstr>
      <vt:lpstr>Благодаря за вниманието!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Държавен изпит за придобиване на трета степен на професионална квалификация – част по теория на професиятапо професия код 481030 „Приложен програмист”специалност код 4810301 „Приложно програмиране"</dc:title>
  <dc:creator>Admin</dc:creator>
  <cp:lastModifiedBy>Admin</cp:lastModifiedBy>
  <cp:revision>10</cp:revision>
  <dcterms:created xsi:type="dcterms:W3CDTF">2026-04-28T08:25:13Z</dcterms:created>
  <dcterms:modified xsi:type="dcterms:W3CDTF">2026-04-29T06:34:21Z</dcterms:modified>
</cp:coreProperties>
</file>