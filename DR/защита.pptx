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54605-55D4-4E23-90C8-AD482CC8543E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87EAD-EC98-4B70-B0B6-C5CFC1425A7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54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г-жо Директор,</a:t>
            </a:r>
          </a:p>
          <a:p>
            <a:r>
              <a:rPr lang="ru-RU" dirty="0" smtClean="0"/>
              <a:t>Уважаема комисия,</a:t>
            </a:r>
          </a:p>
          <a:p>
            <a:r>
              <a:rPr lang="ru-RU" dirty="0" smtClean="0"/>
              <a:t>Уважаеми гости,</a:t>
            </a:r>
          </a:p>
          <a:p>
            <a:r>
              <a:rPr lang="ru-RU" dirty="0" smtClean="0"/>
              <a:t>Казвам се Александър Кулин и ще ви представя своя дипломен проект на тема:</a:t>
            </a:r>
          </a:p>
          <a:p>
            <a:r>
              <a:rPr lang="ru-RU" dirty="0" smtClean="0"/>
              <a:t>„Анализ на емоции в текст чрез обработка на естествен език“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2446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съвременния дигитален свят хората постоянно създават текст – коментари, мнения, ревюта и съобщения. Тази информация е изключително ценна, защото показва какво мислят и чувстват потребителите.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3469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Ръчното анализиране на толкова голям обем текст е трудно, затова се използват технологии от изкуствения интелект. Една от тях е обработката на естествен език, която позволява на компютрите да разбират човешкия език.</a:t>
            </a:r>
            <a:endParaRPr lang="bg-B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7523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Моят проект представлява уеб приложение, което анализира въведен текст и автоматично определя неговата емоционална насоченост.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Системата може да разпознае дали даден текст е позитивен, негативен или неутрален, което я прави полезна при анализ на мнения и отзиви.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2755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Работата на приложението започва от потребителя, който въвежда текст. Този текст се изпраща към сървъра, където преминава през няколко етапа.</a:t>
            </a:r>
          </a:p>
          <a:p>
            <a:endParaRPr lang="bg-BG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Първо се извършва предварителна обработка – текстът се почиства и подготвя. След това преминава през токенизация,</a:t>
            </a:r>
            <a:r>
              <a:rPr lang="bg-BG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която представлява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разделяне на текста на отделни елементи.</a:t>
            </a:r>
          </a:p>
          <a:p>
            <a:endParaRPr lang="bg-BG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Накрая се прилага класификация, при която системата определя към коя категория принадлежи текстът,</a:t>
            </a:r>
            <a:r>
              <a:rPr lang="bg-BG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 с други думи,</a:t>
            </a:r>
            <a:r>
              <a:rPr lang="bg-BG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каква емоция изразява.</a:t>
            </a:r>
            <a:endParaRPr lang="bg-BG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52319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Анализът на емоции е процес, при който се определя дали даден текст изразява положително, отрицателно или неутрално мнение.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ако текстът е „Този продукт е много добър“, системата го разпознава като позитивен.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489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реализиране на проекта използвах Python и Django за сървърната част на приложението.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клиентската част използвах HTML, CSS и JavaScript, а комуникацията между тях се осъществява чрез REST API.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Тези технологии позволяват създаването на модерно и функционално уеб приложение.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51011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Приложението беше тествано с различни текстове с цел да се провери неговата точност.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повечето случаи системата успява правилно да разпознае емоционалната насоченост на текста, което показва, че избраният подход е ефективен.</a:t>
            </a:r>
          </a:p>
          <a:p>
            <a:endParaRPr lang="bg-BG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Въпреки това, системата има някои ограничения. Тя трудно разпознава ирония и сарказъм и понякога се затруднява при по-сложни изречения.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438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Анализът на емоции се използва в онлайн магазини и социални мрежи, за да се разбере какво мислят хората за даден продукт или услуга. Това помага на компаниите да подобряват качеството си и да вземат по-добри решения на база реална обратна връзка.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5942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Благодаря</a:t>
            </a:r>
            <a:r>
              <a:rPr lang="bg-BG" baseline="0" dirty="0" smtClean="0"/>
              <a:t> Ви за отделеното внимание</a:t>
            </a:r>
          </a:p>
          <a:p>
            <a:r>
              <a:rPr lang="bg-BG" baseline="0" dirty="0" smtClean="0"/>
              <a:t>Готов съм за вашите въпроси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87EAD-EC98-4B70-B0B6-C5CFC1425A7F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815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3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6949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55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0513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1100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458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862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8590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4430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069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9479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2D7101-39F5-43AF-A214-156FBC31505C}" type="datetimeFigureOut">
              <a:rPr lang="bg-BG" smtClean="0"/>
              <a:t>12.5.2026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F9C7B1F-86D8-411D-B452-B59FDE0172C0}" type="slidenum">
              <a:rPr lang="bg-BG" smtClean="0"/>
              <a:t>‹#›</a:t>
            </a:fld>
            <a:endParaRPr lang="bg-B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18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8418" y="-817661"/>
            <a:ext cx="10058400" cy="3566160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Държавен изпит за придобиване на трета степен на професионална квалификация – част по теория на </a:t>
            </a:r>
            <a:r>
              <a:rPr lang="ru-RU" sz="3600" dirty="0" smtClean="0"/>
              <a:t>професията по </a:t>
            </a:r>
            <a:r>
              <a:rPr lang="ru-RU" sz="3600" dirty="0"/>
              <a:t>професия код 481030 „Приложен програмист”специалност код 4810301 „Приложно програмиране"</a:t>
            </a:r>
            <a:endParaRPr lang="bg-BG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8106" y="4447231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</a:t>
            </a:r>
            <a:r>
              <a:rPr lang="ru-RU" dirty="0" smtClean="0"/>
              <a:t>ема </a:t>
            </a:r>
            <a:r>
              <a:rPr lang="ru-RU" dirty="0"/>
              <a:t>: „Анализ на емоции в текст </a:t>
            </a:r>
            <a:r>
              <a:rPr lang="ru-RU" dirty="0" smtClean="0"/>
              <a:t>(</a:t>
            </a:r>
            <a:r>
              <a:rPr lang="en-US" dirty="0" smtClean="0"/>
              <a:t>Sentiment Analysis</a:t>
            </a:r>
            <a:r>
              <a:rPr lang="ru-RU" dirty="0" smtClean="0"/>
              <a:t>)“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Дипломант: Александър Кулин</a:t>
            </a:r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1" y="446437"/>
            <a:ext cx="1203910" cy="15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Проблемът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Всеки ден хората създават огромни количества </a:t>
            </a:r>
            <a:r>
              <a:rPr lang="ru-RU" dirty="0" smtClean="0"/>
              <a:t>текст</a:t>
            </a:r>
            <a:r>
              <a:rPr lang="en-US" dirty="0" smtClean="0"/>
              <a:t>:</a:t>
            </a:r>
          </a:p>
          <a:p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Коментари в социални мрежи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Продуктови ревюта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Онлайн мнения и </a:t>
            </a:r>
            <a:r>
              <a:rPr lang="ru-RU" dirty="0" smtClean="0"/>
              <a:t>отзиви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Ръчният анализ е </a:t>
            </a:r>
            <a:r>
              <a:rPr lang="ru-RU" b="1" dirty="0" smtClean="0"/>
              <a:t>невъзможен</a:t>
            </a:r>
            <a:r>
              <a:rPr lang="en-US" b="1" dirty="0" smtClean="0"/>
              <a:t>.</a:t>
            </a:r>
            <a:endParaRPr lang="ru-RU" dirty="0"/>
          </a:p>
          <a:p>
            <a:endParaRPr lang="bg-BG" dirty="0"/>
          </a:p>
        </p:txBody>
      </p:sp>
      <p:pic>
        <p:nvPicPr>
          <p:cNvPr id="1025" name="Picture 1" descr="https://cdn.gamma.app/mdafqexn76joahg/generated-images/D7GH914NOKxBzlU9KoFw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451" y="2582370"/>
            <a:ext cx="4268456" cy="298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393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Обработка на естествен език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5767" y="2086252"/>
            <a:ext cx="8281426" cy="37280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39813" y="3293616"/>
            <a:ext cx="97655" cy="177553"/>
          </a:xfrm>
          <a:prstGeom prst="rect">
            <a:avLst/>
          </a:prstGeom>
          <a:solidFill>
            <a:srgbClr val="F1ECE4"/>
          </a:solidFill>
          <a:ln>
            <a:solidFill>
              <a:srgbClr val="F1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 4"/>
          <p:cNvSpPr/>
          <p:nvPr/>
        </p:nvSpPr>
        <p:spPr>
          <a:xfrm>
            <a:off x="8916953" y="3408305"/>
            <a:ext cx="45719" cy="45719"/>
          </a:xfrm>
          <a:prstGeom prst="rect">
            <a:avLst/>
          </a:prstGeom>
          <a:solidFill>
            <a:srgbClr val="F1ECE4"/>
          </a:solidFill>
          <a:ln>
            <a:solidFill>
              <a:srgbClr val="F1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29806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Моят проект</a:t>
            </a: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813" y="1972449"/>
            <a:ext cx="7906404" cy="39055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8575" y="221705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Уеб приложение за анализ:</a:t>
            </a:r>
          </a:p>
          <a:p>
            <a:endParaRPr lang="ru-RU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Приема произволен текст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Анализира съдържанието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Определя емоционална тоналност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 smtClean="0"/>
          </a:p>
          <a:p>
            <a:r>
              <a:rPr lang="ru-RU" b="1" dirty="0" smtClean="0"/>
              <a:t>Три категории:</a:t>
            </a:r>
            <a:endParaRPr lang="ru-RU" dirty="0" smtClean="0"/>
          </a:p>
          <a:p>
            <a:r>
              <a:rPr lang="ru-RU" dirty="0" smtClean="0"/>
              <a:t>😊 Позитивна</a:t>
            </a:r>
            <a:br>
              <a:rPr lang="ru-RU" dirty="0" smtClean="0"/>
            </a:br>
            <a:r>
              <a:rPr lang="ru-RU" dirty="0" smtClean="0"/>
              <a:t>😐 Неутрална</a:t>
            </a:r>
            <a:br>
              <a:rPr lang="ru-RU" dirty="0" smtClean="0"/>
            </a:br>
            <a:r>
              <a:rPr lang="ru-RU" dirty="0" smtClean="0"/>
              <a:t>😡 Негативна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23398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Как работи системата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5631" y="2195281"/>
            <a:ext cx="7621064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61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Анализ на емоции</a:t>
            </a: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63050"/>
            <a:ext cx="4353533" cy="41439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94084" y="2207411"/>
            <a:ext cx="4582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Пример:</a:t>
            </a:r>
            <a:r>
              <a:rPr lang="ru-RU" dirty="0" smtClean="0"/>
              <a:t> „Много добър продукт" → </a:t>
            </a:r>
            <a:r>
              <a:rPr lang="ru-RU" b="1" dirty="0" smtClean="0"/>
              <a:t>Позитив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5794084" y="3565694"/>
            <a:ext cx="5361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Пример:</a:t>
            </a:r>
            <a:r>
              <a:rPr lang="ru-RU" dirty="0" smtClean="0"/>
              <a:t> „Нямам мнение за продукта" → </a:t>
            </a:r>
            <a:r>
              <a:rPr lang="ru-RU" b="1" dirty="0" smtClean="0"/>
              <a:t>Неутрален</a:t>
            </a:r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5794084" y="4923977"/>
            <a:ext cx="4183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Пример:</a:t>
            </a:r>
            <a:r>
              <a:rPr lang="ru-RU" dirty="0" smtClean="0"/>
              <a:t> „Ужасен продкут" → </a:t>
            </a:r>
            <a:r>
              <a:rPr lang="ru-RU" b="1" dirty="0" smtClean="0"/>
              <a:t>Негативен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5149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ython logo - free Icon PNG, SV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16" y="4438177"/>
            <a:ext cx="1698127" cy="169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Технологии</a:t>
            </a: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1097280" y="2181004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Django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g-BG" sz="3200" dirty="0"/>
              <a:t>Машинно обучение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1136" y="2181004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JavaScript</a:t>
            </a:r>
          </a:p>
        </p:txBody>
      </p:sp>
      <p:pic>
        <p:nvPicPr>
          <p:cNvPr id="1032" name="Picture 8" descr="File:JavaScript-logo.pn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157" y="4486295"/>
            <a:ext cx="1601892" cy="160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85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Резултати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2471" y="2166702"/>
            <a:ext cx="9907383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66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Приложение в реалния свят</a:t>
            </a: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5509482" y="2344105"/>
            <a:ext cx="60314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Анализът на емоции е инструмент с широко приложение в различни сфери</a:t>
            </a:r>
            <a:r>
              <a:rPr lang="ru-RU" sz="2000" dirty="0" smtClean="0"/>
              <a:t>:</a:t>
            </a:r>
          </a:p>
          <a:p>
            <a:endParaRPr lang="ru-RU" sz="2000" dirty="0"/>
          </a:p>
          <a:p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Онлайн магазини и платформи за електронна </a:t>
            </a:r>
            <a:r>
              <a:rPr lang="ru-RU" sz="2000" dirty="0" smtClean="0"/>
              <a:t>търговия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Социални мрежи и медиен мониторинг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Обратна връзка от клиенти и проучвания на пазара</a:t>
            </a:r>
          </a:p>
        </p:txBody>
      </p:sp>
      <p:pic>
        <p:nvPicPr>
          <p:cNvPr id="2050" name="Picture 2" descr="How to Start an Online Store — Simple, Step-by-Step Guid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499106"/>
            <a:ext cx="3990297" cy="224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4818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4139" y="2175028"/>
            <a:ext cx="6892623" cy="1450757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1180730" y="1562470"/>
            <a:ext cx="10227076" cy="36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2860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258</TotalTime>
  <Words>604</Words>
  <Application>Microsoft Office PowerPoint</Application>
  <PresentationFormat>Widescreen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Retrospect</vt:lpstr>
      <vt:lpstr>Държавен изпит за придобиване на трета степен на професионална квалификация – част по теория на професията по професия код 481030 „Приложен програмист”специалност код 4810301 „Приложно програмиране"</vt:lpstr>
      <vt:lpstr>Проблемът</vt:lpstr>
      <vt:lpstr>Обработка на естествен език</vt:lpstr>
      <vt:lpstr>Моят проект</vt:lpstr>
      <vt:lpstr>Как работи системата</vt:lpstr>
      <vt:lpstr>Анализ на емоции</vt:lpstr>
      <vt:lpstr>Технологии</vt:lpstr>
      <vt:lpstr>Резултати</vt:lpstr>
      <vt:lpstr>Приложение в реалния свят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Държавен изпит за придобиване на трета степен на професионална квалификация – част по теория на професиятапо професия код 481030 „Приложен програмист”специалност код 4810301 „Приложно програмиране"</dc:title>
  <dc:creator>Admin</dc:creator>
  <cp:lastModifiedBy>Admin</cp:lastModifiedBy>
  <cp:revision>16</cp:revision>
  <dcterms:created xsi:type="dcterms:W3CDTF">2026-04-28T08:25:13Z</dcterms:created>
  <dcterms:modified xsi:type="dcterms:W3CDTF">2026-05-12T07:03:47Z</dcterms:modified>
</cp:coreProperties>
</file>