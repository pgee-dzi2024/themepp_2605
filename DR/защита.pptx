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-33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54605-55D4-4E23-90C8-AD482CC8543E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187EAD-EC98-4B70-B0B6-C5CFC1425A7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55447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 г-жо Директор,</a:t>
            </a:r>
          </a:p>
          <a:p>
            <a:r>
              <a:rPr lang="ru-RU" dirty="0" smtClean="0"/>
              <a:t>Уважаема комисия,</a:t>
            </a:r>
          </a:p>
          <a:p>
            <a:r>
              <a:rPr lang="ru-RU" dirty="0" smtClean="0"/>
              <a:t>Уважаеми гости,</a:t>
            </a:r>
          </a:p>
          <a:p>
            <a:r>
              <a:rPr lang="ru-RU" dirty="0" smtClean="0"/>
              <a:t>Казвам се Александър Кулин и ще ви представя </a:t>
            </a:r>
            <a:r>
              <a:rPr lang="ru-RU" dirty="0" smtClean="0"/>
              <a:t>своя </a:t>
            </a:r>
            <a:r>
              <a:rPr lang="ru-RU" dirty="0" smtClean="0"/>
              <a:t>дипломен проект на тема:</a:t>
            </a:r>
          </a:p>
          <a:p>
            <a:r>
              <a:rPr lang="ru-RU" dirty="0" smtClean="0"/>
              <a:t>„Анализ на емоции в текст чрез обработка на естествен език“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24464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съвременния дигитален свят хората постоянно създават текст – коментари, мнения, ревюта и съобщения. Тази информация е изключително ценна, защото показва какво мислят и чувстват потребителите.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34693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Ръчното анализиране на толкова голям обем текст е трудно, затова се използват технологии от изкуствения интелект. Една от тях е обработката на естествен език, която позволява на компютрите да разбират човешкия език.</a:t>
            </a:r>
            <a:endParaRPr lang="bg-BG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75230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Моят проект представлява уеб приложение, което анализира въведен текст и автоматично определя неговата емоционална насоченост.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Системата може да разпознае дали даден текст е позитивен, негативен или неутрален, което я прави полезна при анализ на мнения и отзиви.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627552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Работата на приложението започва от потребителя, който въвежда текст. Този текст се изпраща към сървъра, където преминава през няколко етапа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Първо се извършва предварителна обработка – текстът се почиства и подготвя. След това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преминава през токенизация,</a:t>
            </a:r>
            <a:r>
              <a:rPr lang="bg-BG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която представлява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разделяне на текста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отделни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елементи.</a:t>
            </a:r>
          </a:p>
          <a:p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Накрая се прилага класификация, при която системата определя към коя категория принадлежи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текстът,</a:t>
            </a:r>
            <a:r>
              <a:rPr lang="bg-BG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ли с други думи,</a:t>
            </a:r>
            <a:r>
              <a:rPr lang="bg-BG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каква емоция изразява.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523192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Анализът на емоции е процес, при който се определя дали даден текст изразява положително, отрицателно или неутрално мнение.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Например, ако текстът е „Този продукт е много добър“, системата го разпознава като позитивен.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748980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реализиране на проекта използвах Python и Django за сървърната част на приложението.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клиентската част използвах HTML, CSS и JavaScript, а комуникацията между тях се осъществява чрез REST API.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Тези технологии позволяват създаването на модерно и функционално уеб приложение.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510113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Приложението беше тествано с различни текстове с цел да се провери неговата точност.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повечето случаи системата успява правилно да разпознае емоционалната насоченост на текста, което показва, че избраният подход е ефективен.</a:t>
            </a:r>
          </a:p>
          <a:p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Въпреки това, системата има някои ограничения. Тя трудно разпознава ирония и сарказъм и понякога се затруднява при по-сложни изречения.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843881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Анализът на емоции се използва в онлайн магазини и социални мрежи, за да се разбере какво мислят хората за даден продукт или услуга. Това помага на компаниите да подобряват качеството си и да вземат по-добри решения на база реална обратна връзка.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594239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Благодаря</a:t>
            </a:r>
            <a:r>
              <a:rPr lang="bg-BG" baseline="0" dirty="0" smtClean="0"/>
              <a:t> Ви за отделеното внимание</a:t>
            </a:r>
          </a:p>
          <a:p>
            <a:r>
              <a:rPr lang="bg-BG" baseline="0" dirty="0" smtClean="0"/>
              <a:t>Готов съм за вашите въпроси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581539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7834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69492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75514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05139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11009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34582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86238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85903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44309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50694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94793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6D2D7101-39F5-43AF-A214-156FBC31505C}" type="datetimeFigureOut">
              <a:rPr lang="bg-BG" smtClean="0"/>
              <a:t>29.4.2026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818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78418" y="-817661"/>
            <a:ext cx="10058400" cy="3566160"/>
          </a:xfrm>
        </p:spPr>
        <p:txBody>
          <a:bodyPr>
            <a:noAutofit/>
          </a:bodyPr>
          <a:lstStyle/>
          <a:p>
            <a:pPr algn="ctr"/>
            <a:r>
              <a:rPr lang="ru-RU" sz="3600" dirty="0"/>
              <a:t>Държавен изпит за придобиване на трета степен на професионална квалификация – част по теория на </a:t>
            </a:r>
            <a:r>
              <a:rPr lang="ru-RU" sz="3600" dirty="0" smtClean="0"/>
              <a:t>професията по </a:t>
            </a:r>
            <a:r>
              <a:rPr lang="ru-RU" sz="3600" dirty="0"/>
              <a:t>професия код 481030 „Приложен програмист”специалност код 4810301 „Приложно програмиране"</a:t>
            </a:r>
            <a:endParaRPr lang="bg-BG" sz="3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58106" y="4447231"/>
            <a:ext cx="10058400" cy="1143000"/>
          </a:xfrm>
        </p:spPr>
        <p:txBody>
          <a:bodyPr>
            <a:normAutofit fontScale="77500" lnSpcReduction="20000"/>
          </a:bodyPr>
          <a:lstStyle/>
          <a:p>
            <a:r>
              <a:rPr lang="en-US" dirty="0" smtClean="0"/>
              <a:t>T</a:t>
            </a:r>
            <a:r>
              <a:rPr lang="ru-RU" dirty="0" smtClean="0"/>
              <a:t>ема </a:t>
            </a:r>
            <a:r>
              <a:rPr lang="ru-RU" dirty="0"/>
              <a:t>: „Анализ на емоции в текст чрез обработка на естествен език</a:t>
            </a:r>
            <a:r>
              <a:rPr lang="ru-RU" dirty="0" smtClean="0"/>
              <a:t>“</a:t>
            </a:r>
            <a:endParaRPr lang="en-US" dirty="0" smtClean="0"/>
          </a:p>
          <a:p>
            <a:endParaRPr lang="ru-RU" dirty="0"/>
          </a:p>
          <a:p>
            <a:r>
              <a:rPr lang="ru-RU" dirty="0"/>
              <a:t>Дипломант: Александър Кулин</a:t>
            </a:r>
          </a:p>
          <a:p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151" y="446437"/>
            <a:ext cx="1203910" cy="1552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0362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Проблемът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Всеки ден хората създават огромни количества </a:t>
            </a:r>
            <a:r>
              <a:rPr lang="ru-RU" dirty="0" smtClean="0"/>
              <a:t>текст</a:t>
            </a:r>
            <a:r>
              <a:rPr lang="en-US" dirty="0" smtClean="0"/>
              <a:t>:</a:t>
            </a:r>
          </a:p>
          <a:p>
            <a:endParaRPr lang="ru-RU" dirty="0"/>
          </a:p>
          <a:p>
            <a:pPr>
              <a:buFont typeface="Wingdings" panose="05000000000000000000" pitchFamily="2" charset="2"/>
              <a:buChar char="q"/>
            </a:pPr>
            <a:r>
              <a:rPr lang="ru-RU" dirty="0"/>
              <a:t>Коментари в социални мрежи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dirty="0"/>
              <a:t>Продуктови ревюта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dirty="0"/>
              <a:t>Онлайн мнения и </a:t>
            </a:r>
            <a:r>
              <a:rPr lang="ru-RU" dirty="0" smtClean="0"/>
              <a:t>отзиви</a:t>
            </a:r>
            <a:endParaRPr lang="en-US" dirty="0" smtClean="0"/>
          </a:p>
          <a:p>
            <a:pPr marL="0" indent="0">
              <a:buNone/>
            </a:pPr>
            <a:endParaRPr lang="ru-RU" dirty="0"/>
          </a:p>
          <a:p>
            <a:r>
              <a:rPr lang="ru-RU" b="1" dirty="0"/>
              <a:t>Ръчният анализ е </a:t>
            </a:r>
            <a:r>
              <a:rPr lang="ru-RU" b="1" dirty="0" smtClean="0"/>
              <a:t>невъзможен</a:t>
            </a:r>
            <a:r>
              <a:rPr lang="en-US" b="1" dirty="0" smtClean="0"/>
              <a:t>.</a:t>
            </a:r>
            <a:endParaRPr lang="ru-RU" dirty="0"/>
          </a:p>
          <a:p>
            <a:endParaRPr lang="bg-BG" dirty="0"/>
          </a:p>
        </p:txBody>
      </p:sp>
      <p:pic>
        <p:nvPicPr>
          <p:cNvPr id="1025" name="Picture 1" descr="https://cdn.gamma.app/mdafqexn76joahg/generated-images/D7GH914NOKxBzlU9KoFwB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451" y="2582370"/>
            <a:ext cx="4268456" cy="2987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03935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Обработка на естествен език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985767" y="2086252"/>
            <a:ext cx="8281426" cy="3728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80659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Моят проект</a:t>
            </a:r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8813" y="1972449"/>
            <a:ext cx="7906404" cy="390552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48575" y="2217050"/>
            <a:ext cx="6096000" cy="34163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dirty="0" smtClean="0"/>
              <a:t>Уеб приложение за </a:t>
            </a:r>
            <a:r>
              <a:rPr lang="ru-RU" b="1" dirty="0" smtClean="0"/>
              <a:t>анализ:</a:t>
            </a:r>
          </a:p>
          <a:p>
            <a:endParaRPr lang="ru-RU" b="1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Приема произволен текст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Анализира съдържанието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Определя емоционална тоналност</a:t>
            </a:r>
          </a:p>
          <a:p>
            <a:pPr>
              <a:buFont typeface="Arial" panose="020B0604020202020204" pitchFamily="34" charset="0"/>
              <a:buChar char="•"/>
            </a:pPr>
            <a:endParaRPr lang="ru-RU" dirty="0"/>
          </a:p>
          <a:p>
            <a:endParaRPr lang="ru-RU" dirty="0"/>
          </a:p>
          <a:p>
            <a:pPr>
              <a:buFont typeface="Arial" panose="020B0604020202020204" pitchFamily="34" charset="0"/>
              <a:buChar char="•"/>
            </a:pPr>
            <a:endParaRPr lang="ru-RU" dirty="0" smtClean="0"/>
          </a:p>
          <a:p>
            <a:r>
              <a:rPr lang="ru-RU" b="1" dirty="0" smtClean="0"/>
              <a:t>Три категории:</a:t>
            </a:r>
            <a:endParaRPr lang="ru-RU" dirty="0" smtClean="0"/>
          </a:p>
          <a:p>
            <a:r>
              <a:rPr lang="ru-RU" dirty="0" smtClean="0"/>
              <a:t>😊 Позитивна</a:t>
            </a:r>
            <a:br>
              <a:rPr lang="ru-RU" dirty="0" smtClean="0"/>
            </a:br>
            <a:r>
              <a:rPr lang="ru-RU" dirty="0" smtClean="0"/>
              <a:t>😐 Неутрална</a:t>
            </a:r>
            <a:br>
              <a:rPr lang="ru-RU" dirty="0" smtClean="0"/>
            </a:br>
            <a:r>
              <a:rPr lang="ru-RU" dirty="0" smtClean="0"/>
              <a:t>😡 Негативна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3233987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Как работи системата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15631" y="2195281"/>
            <a:ext cx="7621064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46135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Анализ на емоции</a:t>
            </a:r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863050"/>
            <a:ext cx="4353533" cy="414395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94084" y="2207411"/>
            <a:ext cx="45829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/>
              <a:t>Пример:</a:t>
            </a:r>
            <a:r>
              <a:rPr lang="ru-RU" dirty="0" smtClean="0"/>
              <a:t> „Много добър продукт" → </a:t>
            </a:r>
            <a:r>
              <a:rPr lang="ru-RU" b="1" dirty="0" smtClean="0"/>
              <a:t>Позитив</a:t>
            </a:r>
            <a:endParaRPr lang="ru-RU" dirty="0"/>
          </a:p>
        </p:txBody>
      </p:sp>
      <p:sp>
        <p:nvSpPr>
          <p:cNvPr id="6" name="Rectangle 5"/>
          <p:cNvSpPr/>
          <p:nvPr/>
        </p:nvSpPr>
        <p:spPr>
          <a:xfrm>
            <a:off x="5794084" y="3565694"/>
            <a:ext cx="53615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/>
              <a:t>Пример:</a:t>
            </a:r>
            <a:r>
              <a:rPr lang="ru-RU" dirty="0" smtClean="0"/>
              <a:t> „Нямам мнение за продукта" → </a:t>
            </a:r>
            <a:r>
              <a:rPr lang="ru-RU" b="1" dirty="0" smtClean="0"/>
              <a:t>Неутрален</a:t>
            </a:r>
            <a:endParaRPr lang="ru-RU" dirty="0"/>
          </a:p>
        </p:txBody>
      </p:sp>
      <p:sp>
        <p:nvSpPr>
          <p:cNvPr id="7" name="Rectangle 6"/>
          <p:cNvSpPr/>
          <p:nvPr/>
        </p:nvSpPr>
        <p:spPr>
          <a:xfrm>
            <a:off x="5794084" y="4923977"/>
            <a:ext cx="41837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/>
              <a:t>Пример:</a:t>
            </a:r>
            <a:r>
              <a:rPr lang="ru-RU" dirty="0" smtClean="0"/>
              <a:t> „Ужасен продкут" → </a:t>
            </a:r>
            <a:r>
              <a:rPr lang="ru-RU" b="1" dirty="0" smtClean="0"/>
              <a:t>Негативен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9514944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Python logo - free Icon PNG, SV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16" y="4438177"/>
            <a:ext cx="1698127" cy="1698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Технологии</a:t>
            </a:r>
            <a:endParaRPr lang="bg-BG" dirty="0"/>
          </a:p>
        </p:txBody>
      </p:sp>
      <p:sp>
        <p:nvSpPr>
          <p:cNvPr id="4" name="Rectangle 3"/>
          <p:cNvSpPr/>
          <p:nvPr/>
        </p:nvSpPr>
        <p:spPr>
          <a:xfrm>
            <a:off x="1097280" y="2181004"/>
            <a:ext cx="6096000" cy="206210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3200" b="1" dirty="0"/>
              <a:t>Backend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Python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Django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bg-BG" sz="3200" dirty="0"/>
              <a:t>Машинно обучение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1136" y="2181004"/>
            <a:ext cx="6096000" cy="206210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3200" b="1" dirty="0"/>
              <a:t>Frontend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HTML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CSS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JavaScript</a:t>
            </a:r>
          </a:p>
        </p:txBody>
      </p:sp>
      <p:pic>
        <p:nvPicPr>
          <p:cNvPr id="1032" name="Picture 8" descr="File:JavaScript-logo.png - Wikimedia Commons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0157" y="4486295"/>
            <a:ext cx="1601892" cy="1601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58553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Резултати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72471" y="2166702"/>
            <a:ext cx="9907383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46658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Приложение в реалния свят</a:t>
            </a:r>
            <a:endParaRPr lang="bg-BG" dirty="0"/>
          </a:p>
        </p:txBody>
      </p:sp>
      <p:sp>
        <p:nvSpPr>
          <p:cNvPr id="4" name="Rectangle 3"/>
          <p:cNvSpPr/>
          <p:nvPr/>
        </p:nvSpPr>
        <p:spPr>
          <a:xfrm>
            <a:off x="5509482" y="2344105"/>
            <a:ext cx="603148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Анализът на емоции е инструмент с широко приложение в различни сфери</a:t>
            </a:r>
            <a:r>
              <a:rPr lang="ru-RU" sz="2000" dirty="0" smtClean="0"/>
              <a:t>:</a:t>
            </a:r>
          </a:p>
          <a:p>
            <a:endParaRPr lang="ru-RU" sz="2000" dirty="0"/>
          </a:p>
          <a:p>
            <a:endParaRPr lang="ru-RU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/>
              <a:t>Онлайн магазини и платформи за електронна </a:t>
            </a:r>
            <a:r>
              <a:rPr lang="ru-RU" sz="2000" dirty="0" smtClean="0"/>
              <a:t>търговия</a:t>
            </a:r>
            <a:endParaRPr lang="ru-RU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/>
              <a:t>Социални мрежи и медиен мониторинг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/>
              <a:t>Обратна връзка от клиенти и проучвания на пазара</a:t>
            </a:r>
          </a:p>
        </p:txBody>
      </p:sp>
      <p:pic>
        <p:nvPicPr>
          <p:cNvPr id="2050" name="Picture 2" descr="How to Start an Online Store — Simple, Step-by-Step Guid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280" y="2499106"/>
            <a:ext cx="3990297" cy="2244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248181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04139" y="2175028"/>
            <a:ext cx="6892623" cy="1450757"/>
          </a:xfrm>
        </p:spPr>
        <p:txBody>
          <a:bodyPr/>
          <a:lstStyle/>
          <a:p>
            <a:r>
              <a:rPr lang="bg-BG" dirty="0" smtClean="0"/>
              <a:t>Благодаря за вниманието!</a:t>
            </a:r>
            <a:endParaRPr lang="bg-BG" dirty="0"/>
          </a:p>
        </p:txBody>
      </p:sp>
      <p:sp>
        <p:nvSpPr>
          <p:cNvPr id="4" name="Rectangle 3"/>
          <p:cNvSpPr/>
          <p:nvPr/>
        </p:nvSpPr>
        <p:spPr>
          <a:xfrm>
            <a:off x="1180730" y="1562470"/>
            <a:ext cx="10227076" cy="3639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3286057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189</TotalTime>
  <Words>606</Words>
  <Application>Microsoft Office PowerPoint</Application>
  <PresentationFormat>Widescreen</PresentationFormat>
  <Paragraphs>83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Wingdings</vt:lpstr>
      <vt:lpstr>Retrospect</vt:lpstr>
      <vt:lpstr>Държавен изпит за придобиване на трета степен на професионална квалификация – част по теория на професията по професия код 481030 „Приложен програмист”специалност код 4810301 „Приложно програмиране"</vt:lpstr>
      <vt:lpstr>Проблемът</vt:lpstr>
      <vt:lpstr>Обработка на естествен език</vt:lpstr>
      <vt:lpstr>Моят проект</vt:lpstr>
      <vt:lpstr>Как работи системата</vt:lpstr>
      <vt:lpstr>Анализ на емоции</vt:lpstr>
      <vt:lpstr>Технологии</vt:lpstr>
      <vt:lpstr>Резултати</vt:lpstr>
      <vt:lpstr>Приложение в реалния свят</vt:lpstr>
      <vt:lpstr>Благодаря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Държавен изпит за придобиване на трета степен на професионална квалификация – част по теория на професиятапо професия код 481030 „Приложен програмист”специалност код 4810301 „Приложно програмиране"</dc:title>
  <dc:creator>Admin</dc:creator>
  <cp:lastModifiedBy>Admin</cp:lastModifiedBy>
  <cp:revision>13</cp:revision>
  <dcterms:created xsi:type="dcterms:W3CDTF">2026-04-28T08:25:13Z</dcterms:created>
  <dcterms:modified xsi:type="dcterms:W3CDTF">2026-04-29T07:19:07Z</dcterms:modified>
</cp:coreProperties>
</file>